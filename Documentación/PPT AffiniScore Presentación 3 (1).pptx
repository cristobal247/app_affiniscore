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" charset="1" panose="020B0606030504020204"/>
      <p:regular r:id="rId17"/>
    </p:embeddedFont>
    <p:embeddedFont>
      <p:font typeface="League Spartan" charset="1" panose="00000800000000000000"/>
      <p:regular r:id="rId18"/>
    </p:embeddedFont>
    <p:embeddedFont>
      <p:font typeface="Be Vietnam" charset="1" panose="00000500000000000000"/>
      <p:regular r:id="rId19"/>
    </p:embeddedFont>
    <p:embeddedFont>
      <p:font typeface="Be Vietnam Ultra-Bold" charset="1" panose="00000900000000000000"/>
      <p:regular r:id="rId20"/>
    </p:embeddedFont>
    <p:embeddedFont>
      <p:font typeface="Montserrat" charset="1" panose="00000500000000000000"/>
      <p:regular r:id="rId21"/>
    </p:embeddedFont>
    <p:embeddedFont>
      <p:font typeface="Open Sans Bold" charset="1" panose="020B0806030504020204"/>
      <p:regular r:id="rId22"/>
    </p:embeddedFont>
    <p:embeddedFont>
      <p:font typeface="Open Sans Ultra-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3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ln w="66675" cap="sq">
              <a:solidFill>
                <a:srgbClr val="F2564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FFB1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FFB1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62422" y="1165060"/>
            <a:ext cx="3617892" cy="1469873"/>
          </a:xfrm>
          <a:custGeom>
            <a:avLst/>
            <a:gdLst/>
            <a:ahLst/>
            <a:cxnLst/>
            <a:rect r="r" b="b" t="t" l="l"/>
            <a:pathLst>
              <a:path h="1469873" w="3617892">
                <a:moveTo>
                  <a:pt x="0" y="0"/>
                </a:moveTo>
                <a:lnTo>
                  <a:pt x="3617892" y="0"/>
                </a:lnTo>
                <a:lnTo>
                  <a:pt x="3617892" y="1469874"/>
                </a:lnTo>
                <a:lnTo>
                  <a:pt x="0" y="1469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0378" r="0" b="-4422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18001" y="5540200"/>
            <a:ext cx="9224082" cy="56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Taller Aplicado de Programación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18001" y="4030387"/>
            <a:ext cx="11119114" cy="182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8"/>
              </a:lnSpc>
            </a:pPr>
            <a:r>
              <a:rPr lang="en-US" sz="12099" spc="12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AffiniScore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374539" y="3395106"/>
            <a:ext cx="4284389" cy="7165300"/>
            <a:chOff x="0" y="0"/>
            <a:chExt cx="1128399" cy="18871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399" cy="1887157"/>
            </a:xfrm>
            <a:custGeom>
              <a:avLst/>
              <a:gdLst/>
              <a:ahLst/>
              <a:cxnLst/>
              <a:rect r="r" b="b" t="t" l="l"/>
              <a:pathLst>
                <a:path h="1887157" w="1128399">
                  <a:moveTo>
                    <a:pt x="92157" y="0"/>
                  </a:moveTo>
                  <a:lnTo>
                    <a:pt x="1036241" y="0"/>
                  </a:lnTo>
                  <a:cubicBezTo>
                    <a:pt x="1087138" y="0"/>
                    <a:pt x="1128399" y="41260"/>
                    <a:pt x="1128399" y="92157"/>
                  </a:cubicBezTo>
                  <a:lnTo>
                    <a:pt x="1128399" y="1795000"/>
                  </a:lnTo>
                  <a:cubicBezTo>
                    <a:pt x="1128399" y="1819442"/>
                    <a:pt x="1118689" y="1842882"/>
                    <a:pt x="1101406" y="1860165"/>
                  </a:cubicBezTo>
                  <a:cubicBezTo>
                    <a:pt x="1084124" y="1877448"/>
                    <a:pt x="1060683" y="1887157"/>
                    <a:pt x="1036241" y="1887157"/>
                  </a:cubicBezTo>
                  <a:lnTo>
                    <a:pt x="92157" y="1887157"/>
                  </a:lnTo>
                  <a:cubicBezTo>
                    <a:pt x="41260" y="1887157"/>
                    <a:pt x="0" y="1845897"/>
                    <a:pt x="0" y="1795000"/>
                  </a:cubicBezTo>
                  <a:lnTo>
                    <a:pt x="0" y="92157"/>
                  </a:lnTo>
                  <a:cubicBezTo>
                    <a:pt x="0" y="41260"/>
                    <a:pt x="41260" y="0"/>
                    <a:pt x="921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E">
                    <a:alpha val="100000"/>
                  </a:srgbClr>
                </a:gs>
                <a:gs pos="100000">
                  <a:srgbClr val="E6E6E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128399" cy="1887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266008" y="3305139"/>
            <a:ext cx="4542613" cy="9223580"/>
          </a:xfrm>
          <a:custGeom>
            <a:avLst/>
            <a:gdLst/>
            <a:ahLst/>
            <a:cxnLst/>
            <a:rect r="r" b="b" t="t" l="l"/>
            <a:pathLst>
              <a:path h="9223580" w="4542613">
                <a:moveTo>
                  <a:pt x="0" y="0"/>
                </a:moveTo>
                <a:lnTo>
                  <a:pt x="4542613" y="0"/>
                </a:lnTo>
                <a:lnTo>
                  <a:pt x="4542613" y="9223580"/>
                </a:lnTo>
                <a:lnTo>
                  <a:pt x="0" y="922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43837" y="5284279"/>
            <a:ext cx="3386955" cy="3386955"/>
          </a:xfrm>
          <a:custGeom>
            <a:avLst/>
            <a:gdLst/>
            <a:ahLst/>
            <a:cxnLst/>
            <a:rect r="r" b="b" t="t" l="l"/>
            <a:pathLst>
              <a:path h="3386955" w="3386955">
                <a:moveTo>
                  <a:pt x="0" y="0"/>
                </a:moveTo>
                <a:lnTo>
                  <a:pt x="3386955" y="0"/>
                </a:lnTo>
                <a:lnTo>
                  <a:pt x="3386955" y="3386955"/>
                </a:lnTo>
                <a:lnTo>
                  <a:pt x="0" y="3386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048610" y="1165060"/>
            <a:ext cx="1463340" cy="1469873"/>
          </a:xfrm>
          <a:custGeom>
            <a:avLst/>
            <a:gdLst/>
            <a:ahLst/>
            <a:cxnLst/>
            <a:rect r="r" b="b" t="t" l="l"/>
            <a:pathLst>
              <a:path h="1469873" w="1463340">
                <a:moveTo>
                  <a:pt x="0" y="0"/>
                </a:moveTo>
                <a:lnTo>
                  <a:pt x="1463340" y="0"/>
                </a:lnTo>
                <a:lnTo>
                  <a:pt x="1463340" y="1469874"/>
                </a:lnTo>
                <a:lnTo>
                  <a:pt x="0" y="14698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118001" y="6656737"/>
            <a:ext cx="9077185" cy="642039"/>
            <a:chOff x="0" y="0"/>
            <a:chExt cx="12102913" cy="856052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28575"/>
              <a:ext cx="4529037" cy="473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Docente: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429472"/>
              <a:ext cx="4529037" cy="426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Arturo Vargas Reyes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760668" y="-28575"/>
              <a:ext cx="6342246" cy="473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Cliente: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760668" y="429472"/>
              <a:ext cx="6342246" cy="426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Academia Tecnológica Triskeledu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18001" y="7822651"/>
            <a:ext cx="3396778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Equipo de Trabajo: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18001" y="8247638"/>
            <a:ext cx="6027282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Belén Toloza, Cristóbal Paredes, Ignacio Álvarez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5135" y="1918994"/>
            <a:ext cx="15540262" cy="83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56149" y="4696897"/>
            <a:ext cx="7130834" cy="261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620" indent="-285810" lvl="1">
              <a:lnSpc>
                <a:spcPts val="3521"/>
              </a:lnSpc>
              <a:buFont typeface="Arial"/>
              <a:buChar char="•"/>
            </a:pP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59 de cada 100 matrimonios en Chile t</a:t>
            </a:r>
            <a:r>
              <a:rPr lang="en-US" sz="2647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er</a:t>
            </a: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</a:t>
            </a:r>
            <a:r>
              <a:rPr lang="en-US" sz="2647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i</a:t>
            </a: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</a:t>
            </a:r>
            <a:r>
              <a:rPr lang="en-US" sz="2647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</a:t>
            </a:r>
            <a:r>
              <a:rPr lang="en-US" sz="2647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en di</a:t>
            </a: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vorcio</a:t>
            </a:r>
          </a:p>
          <a:p>
            <a:pPr algn="l" marL="571620" indent="-285810" lvl="1">
              <a:lnSpc>
                <a:spcPts val="3521"/>
              </a:lnSpc>
              <a:buFont typeface="Arial"/>
              <a:buChar char="•"/>
            </a:pP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Supera a Ecuador (47,5%), Brasil (47,4%) y Colombia (36,3%)</a:t>
            </a:r>
          </a:p>
          <a:p>
            <a:pPr algn="l" marL="571620" indent="-285810" lvl="1">
              <a:lnSpc>
                <a:spcPts val="3521"/>
              </a:lnSpc>
              <a:buFont typeface="Arial"/>
              <a:buChar char="•"/>
            </a:pP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38.093 divorcios solo en 2023</a:t>
            </a:r>
          </a:p>
          <a:p>
            <a:pPr algn="l">
              <a:lnSpc>
                <a:spcPts val="352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99131" y="3538439"/>
            <a:ext cx="7644869" cy="8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b="true" sz="3090" spc="98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CHILE: EL PAÍS CON MÁS DIVORCIOS DE LATINOAMÉRICA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4981" y="4636672"/>
            <a:ext cx="6684476" cy="262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75% de parejas que van a terapia mejoran</a:t>
            </a:r>
          </a:p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55%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n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o v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p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o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el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costo</a:t>
            </a:r>
          </a:p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38% por resistencia de la pareja</a:t>
            </a:r>
          </a:p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32% por estigma social</a:t>
            </a:r>
          </a:p>
          <a:p>
            <a:pPr algn="l">
              <a:lnSpc>
                <a:spcPts val="350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754784" y="3538439"/>
            <a:ext cx="7644869" cy="8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b="true" sz="3090" spc="98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LA TERAPIA FUNCIONA — PERO CASI NADIE PUEDE ACCEDER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4467" y="7310567"/>
            <a:ext cx="3979625" cy="26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  <a:spcBef>
                <a:spcPct val="0"/>
              </a:spcBef>
            </a:pPr>
            <a:r>
              <a:rPr lang="en-US" sz="18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Fuente: INE Chile + REDIFAM, 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67110" y="7260099"/>
            <a:ext cx="4620218" cy="53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8"/>
              </a:lnSpc>
              <a:spcBef>
                <a:spcPct val="0"/>
              </a:spcBef>
            </a:pP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Fuente: AAMFT + Hubbard et al., Journal of Marital and Family Therapy, 2022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5135" y="1918994"/>
            <a:ext cx="15540262" cy="83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56149" y="4696897"/>
            <a:ext cx="7130834" cy="261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620" indent="-285810" lvl="1">
              <a:lnSpc>
                <a:spcPts val="3521"/>
              </a:lnSpc>
              <a:buFont typeface="Arial"/>
              <a:buChar char="•"/>
            </a:pP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~50% ha sido </a:t>
            </a:r>
            <a:r>
              <a:rPr lang="en-US" sz="2647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ig</a:t>
            </a: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nor</a:t>
            </a:r>
            <a:r>
              <a:rPr lang="en-US" sz="2647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ado p</a:t>
            </a: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or su pareja a causa del celular</a:t>
            </a:r>
          </a:p>
          <a:p>
            <a:pPr algn="l" marL="571620" indent="-285810" lvl="1">
              <a:lnSpc>
                <a:spcPts val="3521"/>
              </a:lnSpc>
              <a:buFont typeface="Arial"/>
              <a:buChar char="•"/>
            </a:pP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Reduce satisfacción, intimidad y armonía</a:t>
            </a:r>
          </a:p>
          <a:p>
            <a:pPr algn="l" marL="571620" indent="-285810" lvl="1">
              <a:lnSpc>
                <a:spcPts val="3521"/>
              </a:lnSpc>
              <a:buFont typeface="Arial"/>
              <a:buChar char="•"/>
            </a:pPr>
            <a:r>
              <a:rPr lang="en-US" sz="264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Aumenta depresión, ansiedad y celos</a:t>
            </a:r>
          </a:p>
          <a:p>
            <a:pPr algn="l">
              <a:lnSpc>
                <a:spcPts val="352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99131" y="3538439"/>
            <a:ext cx="7644869" cy="8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b="true" sz="3090" spc="98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 DE CADA 2 PAREJAS SUFRE PHUBBING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4981" y="4636672"/>
            <a:ext cx="6684476" cy="306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La gratitud genera espirales de comportamientos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positiv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os</a:t>
            </a:r>
          </a:p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Reactiv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633" u="none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el</a:t>
            </a: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vínculo en relaciones de largo plazo</a:t>
            </a:r>
          </a:p>
          <a:p>
            <a:pPr algn="l" marL="568590" indent="-284295" lvl="1">
              <a:lnSpc>
                <a:spcPts val="3502"/>
              </a:lnSpc>
              <a:buFont typeface="Arial"/>
              <a:buChar char="•"/>
            </a:pPr>
            <a:r>
              <a:rPr lang="en-US" sz="2633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Respaldado por estudios longitudinales de 11 años</a:t>
            </a:r>
          </a:p>
          <a:p>
            <a:pPr algn="l">
              <a:lnSpc>
                <a:spcPts val="350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754784" y="3538439"/>
            <a:ext cx="7644869" cy="8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b="true" sz="3090" spc="98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 'GRACIAS' PUEDE SALVAR TU RELACIÓN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9131" y="7564868"/>
            <a:ext cx="6951086" cy="26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  <a:spcBef>
                <a:spcPct val="0"/>
              </a:spcBef>
            </a:pPr>
            <a:r>
              <a:rPr lang="en-US" sz="18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Fuente: Roberts &amp; David, 2016 + Frontiers in Psychology, 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67110" y="7443932"/>
            <a:ext cx="4620218" cy="53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8"/>
              </a:lnSpc>
              <a:spcBef>
                <a:spcPct val="0"/>
              </a:spcBef>
            </a:pP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Fuente: A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lgoe,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U.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ort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e,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2012 + Roth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et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., U.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Zu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202</a:t>
            </a:r>
            <a:r>
              <a:rPr lang="en-US" sz="1807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5413" y="5166182"/>
            <a:ext cx="4418820" cy="4312457"/>
            <a:chOff x="0" y="0"/>
            <a:chExt cx="453389" cy="44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64825" y="0"/>
                  </a:moveTo>
                  <a:lnTo>
                    <a:pt x="388564" y="0"/>
                  </a:lnTo>
                  <a:cubicBezTo>
                    <a:pt x="405757" y="0"/>
                    <a:pt x="422245" y="6830"/>
                    <a:pt x="434402" y="18987"/>
                  </a:cubicBezTo>
                  <a:cubicBezTo>
                    <a:pt x="446559" y="31144"/>
                    <a:pt x="453389" y="47633"/>
                    <a:pt x="453389" y="64825"/>
                  </a:cubicBezTo>
                  <a:lnTo>
                    <a:pt x="453389" y="377651"/>
                  </a:lnTo>
                  <a:cubicBezTo>
                    <a:pt x="453389" y="413453"/>
                    <a:pt x="424366" y="442476"/>
                    <a:pt x="388564" y="442476"/>
                  </a:cubicBezTo>
                  <a:lnTo>
                    <a:pt x="64825" y="442476"/>
                  </a:lnTo>
                  <a:cubicBezTo>
                    <a:pt x="47633" y="442476"/>
                    <a:pt x="31144" y="435646"/>
                    <a:pt x="18987" y="423489"/>
                  </a:cubicBezTo>
                  <a:cubicBezTo>
                    <a:pt x="6830" y="411332"/>
                    <a:pt x="0" y="394843"/>
                    <a:pt x="0" y="377651"/>
                  </a:cubicBezTo>
                  <a:lnTo>
                    <a:pt x="0" y="64825"/>
                  </a:lnTo>
                  <a:cubicBezTo>
                    <a:pt x="0" y="29023"/>
                    <a:pt x="29023" y="0"/>
                    <a:pt x="6482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53767" y="5166182"/>
            <a:ext cx="4418820" cy="4312457"/>
            <a:chOff x="0" y="0"/>
            <a:chExt cx="453389" cy="442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64825" y="0"/>
                  </a:moveTo>
                  <a:lnTo>
                    <a:pt x="388564" y="0"/>
                  </a:lnTo>
                  <a:cubicBezTo>
                    <a:pt x="405757" y="0"/>
                    <a:pt x="422245" y="6830"/>
                    <a:pt x="434402" y="18987"/>
                  </a:cubicBezTo>
                  <a:cubicBezTo>
                    <a:pt x="446559" y="31144"/>
                    <a:pt x="453389" y="47633"/>
                    <a:pt x="453389" y="64825"/>
                  </a:cubicBezTo>
                  <a:lnTo>
                    <a:pt x="453389" y="377651"/>
                  </a:lnTo>
                  <a:cubicBezTo>
                    <a:pt x="453389" y="413453"/>
                    <a:pt x="424366" y="442476"/>
                    <a:pt x="388564" y="442476"/>
                  </a:cubicBezTo>
                  <a:lnTo>
                    <a:pt x="64825" y="442476"/>
                  </a:lnTo>
                  <a:cubicBezTo>
                    <a:pt x="47633" y="442476"/>
                    <a:pt x="31144" y="435646"/>
                    <a:pt x="18987" y="423489"/>
                  </a:cubicBezTo>
                  <a:cubicBezTo>
                    <a:pt x="6830" y="411332"/>
                    <a:pt x="0" y="394843"/>
                    <a:pt x="0" y="377651"/>
                  </a:cubicBezTo>
                  <a:lnTo>
                    <a:pt x="0" y="64825"/>
                  </a:lnTo>
                  <a:cubicBezTo>
                    <a:pt x="0" y="29023"/>
                    <a:pt x="29023" y="0"/>
                    <a:pt x="6482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7ED95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2700000">
            <a:off x="5131557" y="3238730"/>
            <a:ext cx="2063241" cy="2063241"/>
            <a:chOff x="0" y="0"/>
            <a:chExt cx="14400530" cy="144005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99261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2700000">
            <a:off x="5362230" y="3516009"/>
            <a:ext cx="1551655" cy="155165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27514" lIns="27514" bIns="27514" rIns="27514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2700000">
            <a:off x="11093203" y="3238730"/>
            <a:ext cx="2063241" cy="2063241"/>
            <a:chOff x="0" y="0"/>
            <a:chExt cx="14400530" cy="14400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99261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2700000">
            <a:off x="11359175" y="3525651"/>
            <a:ext cx="1554759" cy="15547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27514" lIns="27514" bIns="27514" rIns="27514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539398" y="3830336"/>
            <a:ext cx="1197317" cy="880028"/>
          </a:xfrm>
          <a:custGeom>
            <a:avLst/>
            <a:gdLst/>
            <a:ahLst/>
            <a:cxnLst/>
            <a:rect r="r" b="b" t="t" l="l"/>
            <a:pathLst>
              <a:path h="880028" w="1197317">
                <a:moveTo>
                  <a:pt x="0" y="0"/>
                </a:moveTo>
                <a:lnTo>
                  <a:pt x="1197317" y="0"/>
                </a:lnTo>
                <a:lnTo>
                  <a:pt x="1197317" y="880028"/>
                </a:lnTo>
                <a:lnTo>
                  <a:pt x="0" y="880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42797" y="3739588"/>
            <a:ext cx="1191506" cy="1061523"/>
          </a:xfrm>
          <a:custGeom>
            <a:avLst/>
            <a:gdLst/>
            <a:ahLst/>
            <a:cxnLst/>
            <a:rect r="r" b="b" t="t" l="l"/>
            <a:pathLst>
              <a:path h="1061523" w="1191506">
                <a:moveTo>
                  <a:pt x="0" y="0"/>
                </a:moveTo>
                <a:lnTo>
                  <a:pt x="1191505" y="0"/>
                </a:lnTo>
                <a:lnTo>
                  <a:pt x="1191505" y="1061524"/>
                </a:lnTo>
                <a:lnTo>
                  <a:pt x="0" y="1061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219677" y="1184859"/>
            <a:ext cx="9848647" cy="100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SOLUCIÓN Y ALCANCES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50504" y="2373564"/>
            <a:ext cx="13186991" cy="56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Solución</a:t>
            </a:r>
            <a:r>
              <a:rPr lang="en-US" sz="3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App de gamificación de "actos de servicio" (Affini Points)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36206" y="5934927"/>
            <a:ext cx="3653943" cy="48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7"/>
              </a:lnSpc>
              <a:spcBef>
                <a:spcPct val="0"/>
              </a:spcBef>
            </a:pPr>
            <a:r>
              <a:rPr lang="en-US" b="true" sz="2926" spc="-67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¿Qué SÍ hace?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20226" y="6651184"/>
            <a:ext cx="3285903" cy="231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8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Fomenta el tiempo de calidad y brinda asistencia con IA (Terapeuta Affini Coach)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52160" y="5934927"/>
            <a:ext cx="3668341" cy="48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7"/>
              </a:lnSpc>
              <a:spcBef>
                <a:spcPct val="0"/>
              </a:spcBef>
            </a:pPr>
            <a:r>
              <a:rPr lang="en-US" b="true" sz="2926" spc="-67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¿Qué NO hace?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60812" y="6606036"/>
            <a:ext cx="3351485" cy="233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3"/>
              </a:lnSpc>
            </a:pPr>
            <a:r>
              <a:rPr lang="en-US" sz="28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 una red social pública ni reemplaza la terapia psicológica profesional </a:t>
            </a:r>
          </a:p>
        </p:txBody>
      </p:sp>
      <p:grpSp>
        <p:nvGrpSpPr>
          <p:cNvPr name="Group 27" id="27"/>
          <p:cNvGrpSpPr/>
          <p:nvPr/>
        </p:nvGrpSpPr>
        <p:grpSpPr>
          <a:xfrm rot="-5400000">
            <a:off x="5641124" y="-12649057"/>
            <a:ext cx="2045233" cy="24235278"/>
            <a:chOff x="0" y="0"/>
            <a:chExt cx="538662" cy="63829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8662" cy="6382954"/>
            </a:xfrm>
            <a:custGeom>
              <a:avLst/>
              <a:gdLst/>
              <a:ahLst/>
              <a:cxnLst/>
              <a:rect r="r" b="b" t="t" l="l"/>
              <a:pathLst>
                <a:path h="6382954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6382954"/>
                  </a:lnTo>
                  <a:lnTo>
                    <a:pt x="0" y="6382954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38662" cy="643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18667">
            <a:off x="1556034" y="5164892"/>
            <a:ext cx="1261485" cy="126148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265791" y="693371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1998251" y="5143500"/>
            <a:ext cx="1304270" cy="1952945"/>
            <a:chOff x="0" y="0"/>
            <a:chExt cx="1739026" cy="2603926"/>
          </a:xfrm>
        </p:grpSpPr>
        <p:grpSp>
          <p:nvGrpSpPr>
            <p:cNvPr name="Group 8" id="8"/>
            <p:cNvGrpSpPr/>
            <p:nvPr/>
          </p:nvGrpSpPr>
          <p:grpSpPr>
            <a:xfrm rot="118667">
              <a:off x="28523" y="28523"/>
              <a:ext cx="1681980" cy="168198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06926" y="2169991"/>
              <a:ext cx="433935" cy="43393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AutoShape 14" id="14"/>
            <p:cNvSpPr/>
            <p:nvPr/>
          </p:nvSpPr>
          <p:spPr>
            <a:xfrm>
              <a:off x="840489" y="1710002"/>
              <a:ext cx="3637" cy="64765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493270" y="5143500"/>
            <a:ext cx="1304270" cy="1952945"/>
            <a:chOff x="0" y="0"/>
            <a:chExt cx="1739026" cy="2603926"/>
          </a:xfrm>
        </p:grpSpPr>
        <p:grpSp>
          <p:nvGrpSpPr>
            <p:cNvPr name="Group 16" id="16"/>
            <p:cNvGrpSpPr/>
            <p:nvPr/>
          </p:nvGrpSpPr>
          <p:grpSpPr>
            <a:xfrm rot="118667">
              <a:off x="28523" y="28523"/>
              <a:ext cx="1681980" cy="168198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606926" y="2169991"/>
              <a:ext cx="433935" cy="43393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840489" y="1710002"/>
              <a:ext cx="3637" cy="64765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118667">
            <a:off x="5029254" y="5186285"/>
            <a:ext cx="1261485" cy="126148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2165008" y="6426001"/>
            <a:ext cx="2728" cy="4857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5638228" y="6447394"/>
            <a:ext cx="2728" cy="4857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8958425" y="6770993"/>
            <a:ext cx="325451" cy="32545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9133597" y="6426001"/>
            <a:ext cx="2728" cy="4857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989836" y="6770993"/>
            <a:ext cx="325451" cy="32545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63056" y="6792386"/>
            <a:ext cx="325451" cy="32545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2564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759032" y="5360840"/>
            <a:ext cx="855490" cy="855490"/>
          </a:xfrm>
          <a:custGeom>
            <a:avLst/>
            <a:gdLst/>
            <a:ahLst/>
            <a:cxnLst/>
            <a:rect r="r" b="b" t="t" l="l"/>
            <a:pathLst>
              <a:path h="855490" w="855490">
                <a:moveTo>
                  <a:pt x="0" y="0"/>
                </a:moveTo>
                <a:lnTo>
                  <a:pt x="855490" y="0"/>
                </a:lnTo>
                <a:lnTo>
                  <a:pt x="855490" y="855490"/>
                </a:lnTo>
                <a:lnTo>
                  <a:pt x="0" y="8554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176148" y="5453878"/>
            <a:ext cx="989846" cy="726300"/>
          </a:xfrm>
          <a:custGeom>
            <a:avLst/>
            <a:gdLst/>
            <a:ahLst/>
            <a:cxnLst/>
            <a:rect r="r" b="b" t="t" l="l"/>
            <a:pathLst>
              <a:path h="726300" w="989846">
                <a:moveTo>
                  <a:pt x="0" y="0"/>
                </a:moveTo>
                <a:lnTo>
                  <a:pt x="989846" y="0"/>
                </a:lnTo>
                <a:lnTo>
                  <a:pt x="989846" y="726299"/>
                </a:lnTo>
                <a:lnTo>
                  <a:pt x="0" y="7262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832212" y="5569427"/>
            <a:ext cx="646308" cy="452416"/>
          </a:xfrm>
          <a:custGeom>
            <a:avLst/>
            <a:gdLst/>
            <a:ahLst/>
            <a:cxnLst/>
            <a:rect r="r" b="b" t="t" l="l"/>
            <a:pathLst>
              <a:path h="452416" w="646308">
                <a:moveTo>
                  <a:pt x="0" y="0"/>
                </a:moveTo>
                <a:lnTo>
                  <a:pt x="646308" y="0"/>
                </a:lnTo>
                <a:lnTo>
                  <a:pt x="646308" y="452416"/>
                </a:lnTo>
                <a:lnTo>
                  <a:pt x="0" y="4524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118667">
            <a:off x="8524623" y="5164892"/>
            <a:ext cx="1261485" cy="1261485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2197403" y="5420192"/>
            <a:ext cx="905965" cy="809706"/>
          </a:xfrm>
          <a:custGeom>
            <a:avLst/>
            <a:gdLst/>
            <a:ahLst/>
            <a:cxnLst/>
            <a:rect r="r" b="b" t="t" l="l"/>
            <a:pathLst>
              <a:path h="809706" w="905965">
                <a:moveTo>
                  <a:pt x="0" y="0"/>
                </a:moveTo>
                <a:lnTo>
                  <a:pt x="905965" y="0"/>
                </a:lnTo>
                <a:lnTo>
                  <a:pt x="905965" y="809707"/>
                </a:lnTo>
                <a:lnTo>
                  <a:pt x="0" y="809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707898" y="5384989"/>
            <a:ext cx="875014" cy="864076"/>
          </a:xfrm>
          <a:custGeom>
            <a:avLst/>
            <a:gdLst/>
            <a:ahLst/>
            <a:cxnLst/>
            <a:rect r="r" b="b" t="t" l="l"/>
            <a:pathLst>
              <a:path h="864076" w="875014">
                <a:moveTo>
                  <a:pt x="0" y="0"/>
                </a:moveTo>
                <a:lnTo>
                  <a:pt x="875014" y="0"/>
                </a:lnTo>
                <a:lnTo>
                  <a:pt x="875014" y="864076"/>
                </a:lnTo>
                <a:lnTo>
                  <a:pt x="0" y="8640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622688" y="7243295"/>
            <a:ext cx="3046627" cy="70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5"/>
              </a:lnSpc>
              <a:spcBef>
                <a:spcPct val="0"/>
              </a:spcBef>
            </a:pPr>
            <a:r>
              <a:rPr lang="en-US" sz="2299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Y PLANIFICACIÓN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974115" y="7243295"/>
            <a:ext cx="3303334" cy="70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DISEÑO Y ARQUITECTURA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304451" y="7256661"/>
            <a:ext cx="3413097" cy="70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5"/>
              </a:lnSpc>
              <a:spcBef>
                <a:spcPct val="0"/>
              </a:spcBef>
            </a:pPr>
            <a:r>
              <a:rPr lang="en-US" sz="2299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CODIFICACIÓN Y DESARROLLO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020053" y="7256661"/>
            <a:ext cx="2999871" cy="70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5"/>
              </a:lnSpc>
              <a:spcBef>
                <a:spcPct val="0"/>
              </a:spcBef>
            </a:pPr>
            <a:r>
              <a:rPr lang="en-US" sz="2299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PRUEBAS (QA) Y VALIDACIÓN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24725" y="7256661"/>
            <a:ext cx="3340587" cy="70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5"/>
              </a:lnSpc>
              <a:spcBef>
                <a:spcPct val="0"/>
              </a:spcBef>
            </a:pPr>
            <a:r>
              <a:rPr lang="en-US" sz="2299">
                <a:solidFill>
                  <a:srgbClr val="2222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CIERRE Y EXAMEN FINAL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5791" y="1763389"/>
            <a:ext cx="11645069" cy="100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 DE TRABAJO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03578" y="3199744"/>
            <a:ext cx="16292813" cy="112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765" indent="-369383" lvl="1">
              <a:lnSpc>
                <a:spcPts val="4550"/>
              </a:lnSpc>
              <a:buFont typeface="Arial"/>
              <a:buChar char="•"/>
            </a:pPr>
            <a:r>
              <a:rPr lang="en-US" b="true" sz="3421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Enfoque:</a:t>
            </a:r>
            <a:r>
              <a:rPr lang="en-US" sz="342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Metodología Ágil (Scrum)</a:t>
            </a:r>
          </a:p>
          <a:p>
            <a:pPr algn="l" marL="738765" indent="-369383" lvl="1">
              <a:lnSpc>
                <a:spcPts val="4550"/>
              </a:lnSpc>
              <a:buFont typeface="Arial"/>
              <a:buChar char="•"/>
            </a:pPr>
            <a:r>
              <a:rPr lang="en-US" b="true" sz="3421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Ventaja:</a:t>
            </a:r>
            <a:r>
              <a:rPr lang="en-US" sz="342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Adaptación continua a los requerimientos del cliente (Triskeledu)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ln w="66675" cap="sq">
              <a:solidFill>
                <a:srgbClr val="FA6F5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80055" y="3987596"/>
            <a:ext cx="2094503" cy="1155904"/>
          </a:xfrm>
          <a:custGeom>
            <a:avLst/>
            <a:gdLst/>
            <a:ahLst/>
            <a:cxnLst/>
            <a:rect r="r" b="b" t="t" l="l"/>
            <a:pathLst>
              <a:path h="1155904" w="2094503">
                <a:moveTo>
                  <a:pt x="0" y="0"/>
                </a:moveTo>
                <a:lnTo>
                  <a:pt x="2094503" y="0"/>
                </a:lnTo>
                <a:lnTo>
                  <a:pt x="2094503" y="1155904"/>
                </a:lnTo>
                <a:lnTo>
                  <a:pt x="0" y="11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78513" y="3528036"/>
            <a:ext cx="2130975" cy="2130975"/>
          </a:xfrm>
          <a:custGeom>
            <a:avLst/>
            <a:gdLst/>
            <a:ahLst/>
            <a:cxnLst/>
            <a:rect r="r" b="b" t="t" l="l"/>
            <a:pathLst>
              <a:path h="2130975" w="2130975">
                <a:moveTo>
                  <a:pt x="0" y="0"/>
                </a:moveTo>
                <a:lnTo>
                  <a:pt x="2130974" y="0"/>
                </a:lnTo>
                <a:lnTo>
                  <a:pt x="2130974" y="2130975"/>
                </a:lnTo>
                <a:lnTo>
                  <a:pt x="0" y="2130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73262" y="4089113"/>
            <a:ext cx="1197421" cy="1197421"/>
          </a:xfrm>
          <a:custGeom>
            <a:avLst/>
            <a:gdLst/>
            <a:ahLst/>
            <a:cxnLst/>
            <a:rect r="r" b="b" t="t" l="l"/>
            <a:pathLst>
              <a:path h="1197421" w="1197421">
                <a:moveTo>
                  <a:pt x="0" y="0"/>
                </a:moveTo>
                <a:lnTo>
                  <a:pt x="1197421" y="0"/>
                </a:lnTo>
                <a:lnTo>
                  <a:pt x="1197421" y="1197420"/>
                </a:lnTo>
                <a:lnTo>
                  <a:pt x="0" y="1197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70683" y="4089113"/>
            <a:ext cx="1330538" cy="1253650"/>
          </a:xfrm>
          <a:custGeom>
            <a:avLst/>
            <a:gdLst/>
            <a:ahLst/>
            <a:cxnLst/>
            <a:rect r="r" b="b" t="t" l="l"/>
            <a:pathLst>
              <a:path h="1253650" w="1330538">
                <a:moveTo>
                  <a:pt x="0" y="0"/>
                </a:moveTo>
                <a:lnTo>
                  <a:pt x="1330537" y="0"/>
                </a:lnTo>
                <a:lnTo>
                  <a:pt x="1330537" y="1253650"/>
                </a:lnTo>
                <a:lnTo>
                  <a:pt x="0" y="1253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157" t="-23990" r="-20896" b="-299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33769" y="7102332"/>
            <a:ext cx="2352510" cy="1650342"/>
          </a:xfrm>
          <a:custGeom>
            <a:avLst/>
            <a:gdLst/>
            <a:ahLst/>
            <a:cxnLst/>
            <a:rect r="r" b="b" t="t" l="l"/>
            <a:pathLst>
              <a:path h="1650342" w="2352510">
                <a:moveTo>
                  <a:pt x="0" y="0"/>
                </a:moveTo>
                <a:lnTo>
                  <a:pt x="2352509" y="0"/>
                </a:lnTo>
                <a:lnTo>
                  <a:pt x="2352509" y="1650341"/>
                </a:lnTo>
                <a:lnTo>
                  <a:pt x="0" y="16503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7846" r="0" b="-147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54735" y="7171130"/>
            <a:ext cx="1199177" cy="1199177"/>
          </a:xfrm>
          <a:custGeom>
            <a:avLst/>
            <a:gdLst/>
            <a:ahLst/>
            <a:cxnLst/>
            <a:rect r="r" b="b" t="t" l="l"/>
            <a:pathLst>
              <a:path h="1199177" w="1199177">
                <a:moveTo>
                  <a:pt x="0" y="0"/>
                </a:moveTo>
                <a:lnTo>
                  <a:pt x="1199177" y="0"/>
                </a:lnTo>
                <a:lnTo>
                  <a:pt x="1199177" y="1199177"/>
                </a:lnTo>
                <a:lnTo>
                  <a:pt x="0" y="1199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97833" y="7102332"/>
            <a:ext cx="1010290" cy="1267975"/>
          </a:xfrm>
          <a:custGeom>
            <a:avLst/>
            <a:gdLst/>
            <a:ahLst/>
            <a:cxnLst/>
            <a:rect r="r" b="b" t="t" l="l"/>
            <a:pathLst>
              <a:path h="1267975" w="1010290">
                <a:moveTo>
                  <a:pt x="0" y="0"/>
                </a:moveTo>
                <a:lnTo>
                  <a:pt x="1010290" y="0"/>
                </a:lnTo>
                <a:lnTo>
                  <a:pt x="1010290" y="1267975"/>
                </a:lnTo>
                <a:lnTo>
                  <a:pt x="0" y="1267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64396" y="1991749"/>
            <a:ext cx="13142058" cy="7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6"/>
              </a:lnSpc>
            </a:pPr>
            <a:r>
              <a:rPr lang="en-US" sz="5550" spc="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TECNOLOGÍAS UTILIZADAS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91535" y="2977970"/>
            <a:ext cx="3071543" cy="97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2811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Frontend (App): Ionic + Angular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1558" y="3011327"/>
            <a:ext cx="4198249" cy="97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2811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Backend (API): FastAPI (Python) en Render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08228" y="3011327"/>
            <a:ext cx="3071543" cy="97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2811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 de Datos /Auth: Supabase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4252" y="6126062"/>
            <a:ext cx="3071543" cy="97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2811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 (AffiniCoach): Gemini 2.5 Flash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09487" y="6126062"/>
            <a:ext cx="3776691" cy="97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2811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Mapas y Alertas: Mapbox + Firebase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9707"/>
            <a:ext cx="18288000" cy="8536886"/>
          </a:xfrm>
          <a:custGeom>
            <a:avLst/>
            <a:gdLst/>
            <a:ahLst/>
            <a:cxnLst/>
            <a:rect r="r" b="b" t="t" l="l"/>
            <a:pathLst>
              <a:path h="8536886" w="18288000">
                <a:moveTo>
                  <a:pt x="0" y="0"/>
                </a:moveTo>
                <a:lnTo>
                  <a:pt x="18288000" y="0"/>
                </a:lnTo>
                <a:lnTo>
                  <a:pt x="18288000" y="8536885"/>
                </a:lnTo>
                <a:lnTo>
                  <a:pt x="0" y="8536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944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2971" y="1391723"/>
            <a:ext cx="13142058" cy="7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6"/>
              </a:lnSpc>
            </a:pPr>
            <a:r>
              <a:rPr lang="en-US" sz="5550" spc="1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-3368672" y="749304"/>
            <a:ext cx="9281939" cy="2794075"/>
            <a:chOff x="0" y="0"/>
            <a:chExt cx="2444626" cy="7358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4626" cy="735888"/>
            </a:xfrm>
            <a:custGeom>
              <a:avLst/>
              <a:gdLst/>
              <a:ahLst/>
              <a:cxnLst/>
              <a:rect r="r" b="b" t="t" l="l"/>
              <a:pathLst>
                <a:path h="735888" w="2444626">
                  <a:moveTo>
                    <a:pt x="0" y="0"/>
                  </a:moveTo>
                  <a:lnTo>
                    <a:pt x="2444626" y="0"/>
                  </a:lnTo>
                  <a:lnTo>
                    <a:pt x="2444626" y="735888"/>
                  </a:lnTo>
                  <a:lnTo>
                    <a:pt x="0" y="735888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44626" cy="783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813270" y="-1726987"/>
            <a:ext cx="6355083" cy="6355083"/>
          </a:xfrm>
          <a:custGeom>
            <a:avLst/>
            <a:gdLst/>
            <a:ahLst/>
            <a:cxnLst/>
            <a:rect r="r" b="b" t="t" l="l"/>
            <a:pathLst>
              <a:path h="6355083" w="6355083">
                <a:moveTo>
                  <a:pt x="0" y="0"/>
                </a:moveTo>
                <a:lnTo>
                  <a:pt x="6355082" y="0"/>
                </a:lnTo>
                <a:lnTo>
                  <a:pt x="6355082" y="6355083"/>
                </a:lnTo>
                <a:lnTo>
                  <a:pt x="0" y="635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5400000">
            <a:off x="13141838" y="5754219"/>
            <a:ext cx="6355083" cy="6355083"/>
          </a:xfrm>
          <a:custGeom>
            <a:avLst/>
            <a:gdLst/>
            <a:ahLst/>
            <a:cxnLst/>
            <a:rect r="r" b="b" t="t" l="l"/>
            <a:pathLst>
              <a:path h="6355083" w="6355083">
                <a:moveTo>
                  <a:pt x="6355083" y="6355083"/>
                </a:moveTo>
                <a:lnTo>
                  <a:pt x="0" y="6355083"/>
                </a:lnTo>
                <a:lnTo>
                  <a:pt x="0" y="0"/>
                </a:lnTo>
                <a:lnTo>
                  <a:pt x="6355083" y="0"/>
                </a:lnTo>
                <a:lnTo>
                  <a:pt x="6355083" y="6355083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045544" y="1602064"/>
            <a:ext cx="4196911" cy="8304311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4069" t="-2337" r="-12472" b="-147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968621" y="692570"/>
            <a:ext cx="14350758" cy="7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6"/>
              </a:lnSpc>
            </a:pPr>
            <a:r>
              <a:rPr lang="en-US" b="true" sz="5550" spc="177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DEMOSTRACIÓN DEL SISTEMA (MVP)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ln w="66675" cap="sq">
              <a:solidFill>
                <a:srgbClr val="F2564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368672" y="749304"/>
            <a:ext cx="9281939" cy="2794075"/>
            <a:chOff x="0" y="0"/>
            <a:chExt cx="2444626" cy="735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4626" cy="735888"/>
            </a:xfrm>
            <a:custGeom>
              <a:avLst/>
              <a:gdLst/>
              <a:ahLst/>
              <a:cxnLst/>
              <a:rect r="r" b="b" t="t" l="l"/>
              <a:pathLst>
                <a:path h="735888" w="2444626">
                  <a:moveTo>
                    <a:pt x="0" y="0"/>
                  </a:moveTo>
                  <a:lnTo>
                    <a:pt x="2444626" y="0"/>
                  </a:lnTo>
                  <a:lnTo>
                    <a:pt x="2444626" y="735888"/>
                  </a:lnTo>
                  <a:lnTo>
                    <a:pt x="0" y="735888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44626" cy="783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40637" y="4343123"/>
            <a:ext cx="3995449" cy="3327233"/>
            <a:chOff x="0" y="0"/>
            <a:chExt cx="5327265" cy="443631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27672" y="1821425"/>
              <a:ext cx="4871921" cy="2614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5"/>
                </a:lnSpc>
              </a:pPr>
              <a:r>
                <a:rPr lang="en-US" sz="2936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Migración de Flutter/Dart  a Ionic/Angular (Híbrido)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7625"/>
              <a:ext cx="5327265" cy="119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0"/>
                </a:lnSpc>
              </a:pPr>
              <a:r>
                <a:rPr lang="en-US" b="true" sz="3331" spc="106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CAMBIO DE FRAMEWORK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49673" y="4343123"/>
            <a:ext cx="3995449" cy="3327233"/>
            <a:chOff x="0" y="0"/>
            <a:chExt cx="5327265" cy="44363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225812" y="1821425"/>
              <a:ext cx="4875641" cy="2614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5"/>
                </a:lnSpc>
              </a:pPr>
              <a:r>
                <a:rPr lang="en-US" sz="2936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Descarte de Google Maps (pedía tarjeta) y exitosa transición a Mapbox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7625"/>
              <a:ext cx="5327265" cy="119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0"/>
                </a:lnSpc>
              </a:pPr>
              <a:r>
                <a:rPr lang="en-US" b="true" sz="3331" spc="106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COSTOS DE MAPAS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709" y="4326462"/>
            <a:ext cx="4188655" cy="3360556"/>
            <a:chOff x="0" y="0"/>
            <a:chExt cx="5584873" cy="448074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205496"/>
              <a:ext cx="5584873" cy="32752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5"/>
                </a:lnSpc>
              </a:pPr>
              <a:r>
                <a:rPr lang="en-US" sz="2936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Optimización de múltiples cuentas para gestionar los tokens gratuitos de Google AI Studio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28804" y="47625"/>
              <a:ext cx="5327265" cy="619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0"/>
                </a:lnSpc>
              </a:pPr>
              <a:r>
                <a:rPr lang="en-US" b="true" sz="3331" spc="106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INTEGRACIÓN IA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5400000">
            <a:off x="-426955" y="-1220389"/>
            <a:ext cx="6967201" cy="6967201"/>
          </a:xfrm>
          <a:custGeom>
            <a:avLst/>
            <a:gdLst/>
            <a:ahLst/>
            <a:cxnLst/>
            <a:rect r="r" b="b" t="t" l="l"/>
            <a:pathLst>
              <a:path h="6967201" w="6967201">
                <a:moveTo>
                  <a:pt x="0" y="0"/>
                </a:moveTo>
                <a:lnTo>
                  <a:pt x="6967202" y="0"/>
                </a:lnTo>
                <a:lnTo>
                  <a:pt x="6967202" y="6967201"/>
                </a:lnTo>
                <a:lnTo>
                  <a:pt x="0" y="6967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68621" y="2232067"/>
            <a:ext cx="14350758" cy="7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6"/>
              </a:lnSpc>
            </a:pPr>
            <a:r>
              <a:rPr lang="en-US" b="true" sz="5550" spc="177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OBSTÁCULOS Y RETROSPECTIVA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ln w="66675" cap="sq">
              <a:solidFill>
                <a:srgbClr val="FA6F5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794973" y="5188925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92396" y="3277398"/>
            <a:ext cx="1510320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7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72330" y="5362981"/>
            <a:ext cx="13543339" cy="171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487" indent="-354243" lvl="1">
              <a:lnSpc>
                <a:spcPts val="4594"/>
              </a:lnSpc>
              <a:buFont typeface="Arial"/>
              <a:buChar char="•"/>
            </a:pPr>
            <a:r>
              <a:rPr lang="en-US" b="true" sz="32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32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esultado: </a:t>
            </a:r>
            <a:r>
              <a:rPr lang="en-US" sz="32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MVP 100% operativo y ajustado a la visión del cliente</a:t>
            </a:r>
          </a:p>
          <a:p>
            <a:pPr algn="l">
              <a:lnSpc>
                <a:spcPts val="4594"/>
              </a:lnSpc>
            </a:pPr>
          </a:p>
          <a:p>
            <a:pPr algn="l" marL="708487" indent="-354243" lvl="1">
              <a:lnSpc>
                <a:spcPts val="4594"/>
              </a:lnSpc>
              <a:buFont typeface="Arial"/>
              <a:buChar char="•"/>
            </a:pPr>
            <a:r>
              <a:rPr lang="en-US" b="true" sz="328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Proyección: </a:t>
            </a:r>
            <a:r>
              <a:rPr lang="en-US" sz="32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 Cloud escalable (Supabase/FastAPI)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115119"/>
            <a:chOff x="0" y="0"/>
            <a:chExt cx="6045684" cy="3022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022775"/>
            </a:xfrm>
            <a:custGeom>
              <a:avLst/>
              <a:gdLst/>
              <a:ahLst/>
              <a:cxnLst/>
              <a:rect r="r" b="b" t="t" l="l"/>
              <a:pathLst>
                <a:path h="3022775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022775"/>
                  </a:lnTo>
                  <a:lnTo>
                    <a:pt x="0" y="3022775"/>
                  </a:lnTo>
                  <a:close/>
                </a:path>
              </a:pathLst>
            </a:custGeom>
            <a:ln w="66675" cap="sq">
              <a:solidFill>
                <a:srgbClr val="F2564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02277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4941630"/>
            <a:ext cx="11119114" cy="182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8"/>
              </a:lnSpc>
            </a:pPr>
            <a:r>
              <a:rPr lang="en-US" sz="120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4676" y="3712404"/>
            <a:ext cx="11052439" cy="116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7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MUCHAS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FFB1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FFB1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gradFill>
              <a:gsLst>
                <a:gs pos="0">
                  <a:srgbClr val="FFFFFE">
                    <a:alpha val="100000"/>
                  </a:srgbClr>
                </a:gs>
                <a:gs pos="100000">
                  <a:srgbClr val="E6E6E6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gradFill>
              <a:gsLst>
                <a:gs pos="0">
                  <a:srgbClr val="FFFFFE">
                    <a:alpha val="100000"/>
                  </a:srgbClr>
                </a:gs>
                <a:gs pos="100000">
                  <a:srgbClr val="E6E6E6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DAHM3H66XXU</dc:identifier>
  <dcterms:modified xsi:type="dcterms:W3CDTF">2011-08-01T06:04:30Z</dcterms:modified>
  <cp:revision>1</cp:revision>
  <dc:title>Contexto</dc:title>
</cp:coreProperties>
</file>